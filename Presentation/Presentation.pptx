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9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6" r:id="rId12"/>
    <p:sldId id="280" r:id="rId13"/>
    <p:sldId id="281" r:id="rId14"/>
    <p:sldId id="287" r:id="rId15"/>
    <p:sldId id="282" r:id="rId16"/>
    <p:sldId id="283" r:id="rId17"/>
    <p:sldId id="284" r:id="rId18"/>
    <p:sldId id="285" r:id="rId19"/>
    <p:sldId id="286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40170D7B-2257-4324-B3A7-DAAC1F5FA069}" type="datetimeFigureOut">
              <a:rPr lang="en-IN" smtClean="0"/>
            </a:fld>
            <a:endParaRPr lang="en-I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7977FAE4-5A41-4A3A-BFF4-1105236C9C2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3180000">
            <a:off x="3098165" y="1861185"/>
            <a:ext cx="3684270" cy="3250565"/>
          </a:xfrm>
        </p:spPr>
        <p:txBody>
          <a:bodyPr/>
          <a:p>
            <a:endParaRPr lang="en-US"/>
          </a:p>
        </p:txBody>
      </p:sp>
      <p:pic>
        <p:nvPicPr>
          <p:cNvPr id="5" name="Content Placeholder 4" descr="1px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0920" y="3646170"/>
            <a:ext cx="9525" cy="9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62898" b="43528"/>
          <a:stretch>
            <a:fillRect/>
          </a:stretch>
        </p:blipFill>
        <p:spPr>
          <a:xfrm>
            <a:off x="7595246" y="1767840"/>
            <a:ext cx="4411334" cy="343678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47" h="5412">
                <a:moveTo>
                  <a:pt x="3106" y="4656"/>
                </a:moveTo>
                <a:cubicBezTo>
                  <a:pt x="3240" y="4655"/>
                  <a:pt x="3349" y="4825"/>
                  <a:pt x="3350" y="5034"/>
                </a:cubicBezTo>
                <a:cubicBezTo>
                  <a:pt x="3350" y="5243"/>
                  <a:pt x="3240" y="5412"/>
                  <a:pt x="3106" y="5412"/>
                </a:cubicBezTo>
                <a:cubicBezTo>
                  <a:pt x="2972" y="5412"/>
                  <a:pt x="2863" y="5243"/>
                  <a:pt x="2863" y="5034"/>
                </a:cubicBezTo>
                <a:cubicBezTo>
                  <a:pt x="2864" y="4825"/>
                  <a:pt x="2972" y="4655"/>
                  <a:pt x="3106" y="4656"/>
                </a:cubicBezTo>
                <a:close/>
                <a:moveTo>
                  <a:pt x="2505" y="3664"/>
                </a:moveTo>
                <a:cubicBezTo>
                  <a:pt x="2640" y="3664"/>
                  <a:pt x="2749" y="3834"/>
                  <a:pt x="2748" y="4043"/>
                </a:cubicBezTo>
                <a:cubicBezTo>
                  <a:pt x="2748" y="4252"/>
                  <a:pt x="2640" y="4421"/>
                  <a:pt x="2505" y="4421"/>
                </a:cubicBezTo>
                <a:cubicBezTo>
                  <a:pt x="2371" y="4421"/>
                  <a:pt x="2262" y="4252"/>
                  <a:pt x="2262" y="4042"/>
                </a:cubicBezTo>
                <a:cubicBezTo>
                  <a:pt x="2262" y="3834"/>
                  <a:pt x="2371" y="3664"/>
                  <a:pt x="2505" y="3664"/>
                </a:cubicBezTo>
                <a:close/>
                <a:moveTo>
                  <a:pt x="1206" y="3424"/>
                </a:moveTo>
                <a:cubicBezTo>
                  <a:pt x="1340" y="3425"/>
                  <a:pt x="1449" y="3594"/>
                  <a:pt x="1450" y="3802"/>
                </a:cubicBezTo>
                <a:cubicBezTo>
                  <a:pt x="1449" y="4012"/>
                  <a:pt x="1340" y="4181"/>
                  <a:pt x="1207" y="4181"/>
                </a:cubicBezTo>
                <a:cubicBezTo>
                  <a:pt x="1071" y="4181"/>
                  <a:pt x="963" y="4011"/>
                  <a:pt x="963" y="3802"/>
                </a:cubicBezTo>
                <a:cubicBezTo>
                  <a:pt x="963" y="3594"/>
                  <a:pt x="1072" y="3424"/>
                  <a:pt x="1206" y="3424"/>
                </a:cubicBezTo>
                <a:close/>
                <a:moveTo>
                  <a:pt x="779" y="2219"/>
                </a:moveTo>
                <a:cubicBezTo>
                  <a:pt x="877" y="2217"/>
                  <a:pt x="975" y="2253"/>
                  <a:pt x="1051" y="2326"/>
                </a:cubicBezTo>
                <a:lnTo>
                  <a:pt x="1060" y="2335"/>
                </a:lnTo>
                <a:cubicBezTo>
                  <a:pt x="1212" y="2482"/>
                  <a:pt x="1216" y="2724"/>
                  <a:pt x="1070" y="2875"/>
                </a:cubicBezTo>
                <a:lnTo>
                  <a:pt x="666" y="3293"/>
                </a:lnTo>
                <a:cubicBezTo>
                  <a:pt x="520" y="3445"/>
                  <a:pt x="278" y="3449"/>
                  <a:pt x="126" y="3303"/>
                </a:cubicBezTo>
                <a:lnTo>
                  <a:pt x="117" y="3294"/>
                </a:lnTo>
                <a:cubicBezTo>
                  <a:pt x="-35" y="3147"/>
                  <a:pt x="-39" y="2905"/>
                  <a:pt x="107" y="2754"/>
                </a:cubicBezTo>
                <a:lnTo>
                  <a:pt x="511" y="2336"/>
                </a:lnTo>
                <a:cubicBezTo>
                  <a:pt x="584" y="2260"/>
                  <a:pt x="681" y="2221"/>
                  <a:pt x="779" y="2219"/>
                </a:cubicBezTo>
                <a:close/>
                <a:moveTo>
                  <a:pt x="6947" y="717"/>
                </a:moveTo>
                <a:lnTo>
                  <a:pt x="6947" y="1765"/>
                </a:lnTo>
                <a:lnTo>
                  <a:pt x="4067" y="4747"/>
                </a:lnTo>
                <a:cubicBezTo>
                  <a:pt x="3930" y="4889"/>
                  <a:pt x="3704" y="4893"/>
                  <a:pt x="3562" y="4756"/>
                </a:cubicBezTo>
                <a:lnTo>
                  <a:pt x="3552" y="4747"/>
                </a:lnTo>
                <a:cubicBezTo>
                  <a:pt x="3410" y="4610"/>
                  <a:pt x="3406" y="4384"/>
                  <a:pt x="3544" y="4241"/>
                </a:cubicBezTo>
                <a:lnTo>
                  <a:pt x="6947" y="717"/>
                </a:lnTo>
                <a:close/>
                <a:moveTo>
                  <a:pt x="5596" y="520"/>
                </a:moveTo>
                <a:cubicBezTo>
                  <a:pt x="5675" y="519"/>
                  <a:pt x="5754" y="547"/>
                  <a:pt x="5816" y="607"/>
                </a:cubicBezTo>
                <a:lnTo>
                  <a:pt x="5824" y="614"/>
                </a:lnTo>
                <a:cubicBezTo>
                  <a:pt x="5946" y="733"/>
                  <a:pt x="5949" y="928"/>
                  <a:pt x="5831" y="1051"/>
                </a:cubicBezTo>
                <a:lnTo>
                  <a:pt x="3415" y="3553"/>
                </a:lnTo>
                <a:cubicBezTo>
                  <a:pt x="3297" y="3675"/>
                  <a:pt x="3102" y="3678"/>
                  <a:pt x="2979" y="3560"/>
                </a:cubicBezTo>
                <a:lnTo>
                  <a:pt x="2971" y="3552"/>
                </a:lnTo>
                <a:cubicBezTo>
                  <a:pt x="2848" y="3434"/>
                  <a:pt x="2845" y="3239"/>
                  <a:pt x="2963" y="3116"/>
                </a:cubicBezTo>
                <a:lnTo>
                  <a:pt x="5379" y="614"/>
                </a:lnTo>
                <a:cubicBezTo>
                  <a:pt x="5438" y="553"/>
                  <a:pt x="5517" y="522"/>
                  <a:pt x="5596" y="520"/>
                </a:cubicBezTo>
                <a:close/>
                <a:moveTo>
                  <a:pt x="6181" y="0"/>
                </a:moveTo>
                <a:lnTo>
                  <a:pt x="6183" y="0"/>
                </a:lnTo>
                <a:lnTo>
                  <a:pt x="6195" y="0"/>
                </a:lnTo>
                <a:cubicBezTo>
                  <a:pt x="6323" y="11"/>
                  <a:pt x="6426" y="176"/>
                  <a:pt x="6425" y="379"/>
                </a:cubicBezTo>
                <a:cubicBezTo>
                  <a:pt x="6425" y="588"/>
                  <a:pt x="6316" y="757"/>
                  <a:pt x="6182" y="757"/>
                </a:cubicBezTo>
                <a:cubicBezTo>
                  <a:pt x="6048" y="757"/>
                  <a:pt x="5939" y="588"/>
                  <a:pt x="5939" y="378"/>
                </a:cubicBezTo>
                <a:cubicBezTo>
                  <a:pt x="5939" y="176"/>
                  <a:pt x="6041" y="10"/>
                  <a:pt x="6170" y="0"/>
                </a:cubicBezTo>
                <a:lnTo>
                  <a:pt x="6181" y="0"/>
                </a:lnTo>
                <a:close/>
                <a:moveTo>
                  <a:pt x="4392" y="0"/>
                </a:moveTo>
                <a:lnTo>
                  <a:pt x="5557" y="0"/>
                </a:lnTo>
                <a:lnTo>
                  <a:pt x="2193" y="3483"/>
                </a:lnTo>
                <a:cubicBezTo>
                  <a:pt x="2035" y="3647"/>
                  <a:pt x="1776" y="3650"/>
                  <a:pt x="1613" y="3493"/>
                </a:cubicBezTo>
                <a:lnTo>
                  <a:pt x="1600" y="3481"/>
                </a:lnTo>
                <a:cubicBezTo>
                  <a:pt x="1438" y="3324"/>
                  <a:pt x="1432" y="3064"/>
                  <a:pt x="1590" y="2901"/>
                </a:cubicBezTo>
                <a:lnTo>
                  <a:pt x="4392" y="0"/>
                </a:lnTo>
                <a:close/>
                <a:moveTo>
                  <a:pt x="2972" y="0"/>
                </a:moveTo>
                <a:lnTo>
                  <a:pt x="3845" y="0"/>
                </a:lnTo>
                <a:lnTo>
                  <a:pt x="1657" y="2265"/>
                </a:lnTo>
                <a:cubicBezTo>
                  <a:pt x="1539" y="2389"/>
                  <a:pt x="1344" y="2392"/>
                  <a:pt x="1220" y="2273"/>
                </a:cubicBezTo>
                <a:lnTo>
                  <a:pt x="1213" y="2265"/>
                </a:lnTo>
                <a:cubicBezTo>
                  <a:pt x="1090" y="2147"/>
                  <a:pt x="1087" y="1952"/>
                  <a:pt x="1206" y="1829"/>
                </a:cubicBezTo>
                <a:lnTo>
                  <a:pt x="2972" y="0"/>
                </a:lnTo>
                <a:close/>
              </a:path>
            </a:pathLst>
          </a:custGeom>
        </p:spPr>
      </p:pic>
      <p:pic>
        <p:nvPicPr>
          <p:cNvPr id="4" name="Picture 3"/>
          <p:cNvPicPr/>
          <p:nvPr/>
        </p:nvPicPr>
        <p:blipFill>
          <a:blip r:embed="rId4"/>
          <a:srcRect l="9960" t="7903"/>
          <a:stretch>
            <a:fillRect/>
          </a:stretch>
        </p:blipFill>
        <p:spPr>
          <a:xfrm rot="300000">
            <a:off x="4758055" y="3236595"/>
            <a:ext cx="2492375" cy="2595245"/>
          </a:xfrm>
          <a:prstGeom prst="ellipse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519045" y="2853055"/>
            <a:ext cx="75565" cy="7556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5" name="Picture 14"/>
          <p:cNvPicPr preferRelativeResize="0"/>
          <p:nvPr/>
        </p:nvPicPr>
        <p:blipFill>
          <a:blip r:embed="rId5"/>
          <a:srcRect t="-2479" r="12971"/>
          <a:stretch>
            <a:fillRect/>
          </a:stretch>
        </p:blipFill>
        <p:spPr>
          <a:xfrm>
            <a:off x="4584700" y="935355"/>
            <a:ext cx="3505200" cy="2189480"/>
          </a:xfrm>
          <a:prstGeom prst="ellipse">
            <a:avLst/>
          </a:prstGeom>
          <a:blipFill rotWithShape="1">
            <a:blip r:embed="rId6">
              <a:alphaModFix amt="34000"/>
            </a:blip>
            <a:tile tx="0" ty="0" sx="100000" sy="100000" flip="none" algn="tl"/>
          </a:blipFill>
        </p:spPr>
      </p:pic>
      <p:pic>
        <p:nvPicPr>
          <p:cNvPr id="19" name="Picture 18"/>
          <p:cNvPicPr preferRelativeResize="0">
            <a:picLocks noChangeAspect="1"/>
          </p:cNvPicPr>
          <p:nvPr/>
        </p:nvPicPr>
        <p:blipFill>
          <a:blip r:embed="rId3"/>
          <a:srcRect l="62898" b="43528"/>
          <a:stretch>
            <a:fillRect/>
          </a:stretch>
        </p:blipFill>
        <p:spPr>
          <a:xfrm>
            <a:off x="0" y="1499870"/>
            <a:ext cx="4411345" cy="3175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47" h="5412">
                <a:moveTo>
                  <a:pt x="3106" y="4656"/>
                </a:moveTo>
                <a:cubicBezTo>
                  <a:pt x="3240" y="4655"/>
                  <a:pt x="3349" y="4825"/>
                  <a:pt x="3350" y="5034"/>
                </a:cubicBezTo>
                <a:cubicBezTo>
                  <a:pt x="3350" y="5243"/>
                  <a:pt x="3240" y="5412"/>
                  <a:pt x="3106" y="5412"/>
                </a:cubicBezTo>
                <a:cubicBezTo>
                  <a:pt x="2972" y="5412"/>
                  <a:pt x="2863" y="5243"/>
                  <a:pt x="2863" y="5034"/>
                </a:cubicBezTo>
                <a:cubicBezTo>
                  <a:pt x="2864" y="4825"/>
                  <a:pt x="2972" y="4655"/>
                  <a:pt x="3106" y="4656"/>
                </a:cubicBezTo>
                <a:close/>
                <a:moveTo>
                  <a:pt x="2505" y="3664"/>
                </a:moveTo>
                <a:cubicBezTo>
                  <a:pt x="2640" y="3664"/>
                  <a:pt x="2749" y="3834"/>
                  <a:pt x="2748" y="4043"/>
                </a:cubicBezTo>
                <a:cubicBezTo>
                  <a:pt x="2748" y="4252"/>
                  <a:pt x="2640" y="4421"/>
                  <a:pt x="2505" y="4421"/>
                </a:cubicBezTo>
                <a:cubicBezTo>
                  <a:pt x="2371" y="4421"/>
                  <a:pt x="2262" y="4252"/>
                  <a:pt x="2262" y="4042"/>
                </a:cubicBezTo>
                <a:cubicBezTo>
                  <a:pt x="2262" y="3834"/>
                  <a:pt x="2371" y="3664"/>
                  <a:pt x="2505" y="3664"/>
                </a:cubicBezTo>
                <a:close/>
                <a:moveTo>
                  <a:pt x="1206" y="3424"/>
                </a:moveTo>
                <a:cubicBezTo>
                  <a:pt x="1340" y="3425"/>
                  <a:pt x="1449" y="3594"/>
                  <a:pt x="1450" y="3802"/>
                </a:cubicBezTo>
                <a:cubicBezTo>
                  <a:pt x="1449" y="4012"/>
                  <a:pt x="1340" y="4181"/>
                  <a:pt x="1207" y="4181"/>
                </a:cubicBezTo>
                <a:cubicBezTo>
                  <a:pt x="1071" y="4181"/>
                  <a:pt x="963" y="4011"/>
                  <a:pt x="963" y="3802"/>
                </a:cubicBezTo>
                <a:cubicBezTo>
                  <a:pt x="963" y="3594"/>
                  <a:pt x="1072" y="3424"/>
                  <a:pt x="1206" y="3424"/>
                </a:cubicBezTo>
                <a:close/>
                <a:moveTo>
                  <a:pt x="779" y="2219"/>
                </a:moveTo>
                <a:cubicBezTo>
                  <a:pt x="877" y="2217"/>
                  <a:pt x="975" y="2253"/>
                  <a:pt x="1051" y="2326"/>
                </a:cubicBezTo>
                <a:lnTo>
                  <a:pt x="1060" y="2335"/>
                </a:lnTo>
                <a:cubicBezTo>
                  <a:pt x="1212" y="2482"/>
                  <a:pt x="1216" y="2724"/>
                  <a:pt x="1070" y="2875"/>
                </a:cubicBezTo>
                <a:lnTo>
                  <a:pt x="666" y="3293"/>
                </a:lnTo>
                <a:cubicBezTo>
                  <a:pt x="520" y="3445"/>
                  <a:pt x="278" y="3449"/>
                  <a:pt x="126" y="3303"/>
                </a:cubicBezTo>
                <a:lnTo>
                  <a:pt x="117" y="3294"/>
                </a:lnTo>
                <a:cubicBezTo>
                  <a:pt x="-35" y="3147"/>
                  <a:pt x="-39" y="2905"/>
                  <a:pt x="107" y="2754"/>
                </a:cubicBezTo>
                <a:lnTo>
                  <a:pt x="511" y="2336"/>
                </a:lnTo>
                <a:cubicBezTo>
                  <a:pt x="584" y="2260"/>
                  <a:pt x="681" y="2221"/>
                  <a:pt x="779" y="2219"/>
                </a:cubicBezTo>
                <a:close/>
                <a:moveTo>
                  <a:pt x="6947" y="717"/>
                </a:moveTo>
                <a:lnTo>
                  <a:pt x="6947" y="1765"/>
                </a:lnTo>
                <a:lnTo>
                  <a:pt x="4067" y="4747"/>
                </a:lnTo>
                <a:cubicBezTo>
                  <a:pt x="3930" y="4889"/>
                  <a:pt x="3704" y="4893"/>
                  <a:pt x="3562" y="4756"/>
                </a:cubicBezTo>
                <a:lnTo>
                  <a:pt x="3552" y="4747"/>
                </a:lnTo>
                <a:cubicBezTo>
                  <a:pt x="3410" y="4610"/>
                  <a:pt x="3406" y="4384"/>
                  <a:pt x="3544" y="4241"/>
                </a:cubicBezTo>
                <a:lnTo>
                  <a:pt x="6947" y="717"/>
                </a:lnTo>
                <a:close/>
                <a:moveTo>
                  <a:pt x="5596" y="520"/>
                </a:moveTo>
                <a:cubicBezTo>
                  <a:pt x="5675" y="519"/>
                  <a:pt x="5754" y="547"/>
                  <a:pt x="5816" y="607"/>
                </a:cubicBezTo>
                <a:lnTo>
                  <a:pt x="5824" y="614"/>
                </a:lnTo>
                <a:cubicBezTo>
                  <a:pt x="5946" y="733"/>
                  <a:pt x="5949" y="928"/>
                  <a:pt x="5831" y="1051"/>
                </a:cubicBezTo>
                <a:lnTo>
                  <a:pt x="3415" y="3553"/>
                </a:lnTo>
                <a:cubicBezTo>
                  <a:pt x="3297" y="3675"/>
                  <a:pt x="3102" y="3678"/>
                  <a:pt x="2979" y="3560"/>
                </a:cubicBezTo>
                <a:lnTo>
                  <a:pt x="2971" y="3552"/>
                </a:lnTo>
                <a:cubicBezTo>
                  <a:pt x="2848" y="3434"/>
                  <a:pt x="2845" y="3239"/>
                  <a:pt x="2963" y="3116"/>
                </a:cubicBezTo>
                <a:lnTo>
                  <a:pt x="5379" y="614"/>
                </a:lnTo>
                <a:cubicBezTo>
                  <a:pt x="5438" y="553"/>
                  <a:pt x="5517" y="522"/>
                  <a:pt x="5596" y="520"/>
                </a:cubicBezTo>
                <a:close/>
                <a:moveTo>
                  <a:pt x="6181" y="0"/>
                </a:moveTo>
                <a:lnTo>
                  <a:pt x="6183" y="0"/>
                </a:lnTo>
                <a:lnTo>
                  <a:pt x="6195" y="0"/>
                </a:lnTo>
                <a:cubicBezTo>
                  <a:pt x="6323" y="11"/>
                  <a:pt x="6426" y="176"/>
                  <a:pt x="6425" y="379"/>
                </a:cubicBezTo>
                <a:cubicBezTo>
                  <a:pt x="6425" y="588"/>
                  <a:pt x="6316" y="757"/>
                  <a:pt x="6182" y="757"/>
                </a:cubicBezTo>
                <a:cubicBezTo>
                  <a:pt x="6048" y="757"/>
                  <a:pt x="5939" y="588"/>
                  <a:pt x="5939" y="378"/>
                </a:cubicBezTo>
                <a:cubicBezTo>
                  <a:pt x="5939" y="176"/>
                  <a:pt x="6041" y="10"/>
                  <a:pt x="6170" y="0"/>
                </a:cubicBezTo>
                <a:lnTo>
                  <a:pt x="6181" y="0"/>
                </a:lnTo>
                <a:close/>
                <a:moveTo>
                  <a:pt x="4392" y="0"/>
                </a:moveTo>
                <a:lnTo>
                  <a:pt x="5557" y="0"/>
                </a:lnTo>
                <a:lnTo>
                  <a:pt x="2193" y="3483"/>
                </a:lnTo>
                <a:cubicBezTo>
                  <a:pt x="2035" y="3647"/>
                  <a:pt x="1776" y="3650"/>
                  <a:pt x="1613" y="3493"/>
                </a:cubicBezTo>
                <a:lnTo>
                  <a:pt x="1600" y="3481"/>
                </a:lnTo>
                <a:cubicBezTo>
                  <a:pt x="1438" y="3324"/>
                  <a:pt x="1432" y="3064"/>
                  <a:pt x="1590" y="2901"/>
                </a:cubicBezTo>
                <a:lnTo>
                  <a:pt x="4392" y="0"/>
                </a:lnTo>
                <a:close/>
                <a:moveTo>
                  <a:pt x="2972" y="0"/>
                </a:moveTo>
                <a:lnTo>
                  <a:pt x="3845" y="0"/>
                </a:lnTo>
                <a:lnTo>
                  <a:pt x="1657" y="2265"/>
                </a:lnTo>
                <a:cubicBezTo>
                  <a:pt x="1539" y="2389"/>
                  <a:pt x="1344" y="2392"/>
                  <a:pt x="1220" y="2273"/>
                </a:cubicBezTo>
                <a:lnTo>
                  <a:pt x="1213" y="2265"/>
                </a:lnTo>
                <a:cubicBezTo>
                  <a:pt x="1090" y="2147"/>
                  <a:pt x="1087" y="1952"/>
                  <a:pt x="1206" y="1829"/>
                </a:cubicBezTo>
                <a:lnTo>
                  <a:pt x="2972" y="0"/>
                </a:lnTo>
                <a:close/>
              </a:path>
            </a:pathLst>
          </a:custGeom>
          <a:blipFill rotWithShape="1">
            <a:blip r:embed="rId6">
              <a:alphaModFix amt="34000"/>
            </a:blip>
            <a:tile tx="0" ty="0" sx="100000" sy="100000" flip="none" algn="tl"/>
          </a:blipFill>
        </p:spPr>
      </p:pic>
      <p:sp>
        <p:nvSpPr>
          <p:cNvPr id="20" name="Text Box 19"/>
          <p:cNvSpPr txBox="1"/>
          <p:nvPr/>
        </p:nvSpPr>
        <p:spPr>
          <a:xfrm>
            <a:off x="4421505" y="303530"/>
            <a:ext cx="7034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chemeClr val="bg1"/>
                </a:solidFill>
              </a:rPr>
              <a:t>DATA  GOVERANCE </a:t>
            </a:r>
            <a:r>
              <a:rPr lang="en-US" sz="2400" b="1">
                <a:solidFill>
                  <a:schemeClr val="bg1"/>
                </a:solidFill>
                <a:sym typeface="+mn-ea"/>
              </a:rPr>
              <a:t>AND SECURITY</a:t>
            </a:r>
            <a:endParaRPr lang="en-US" sz="2400" b="1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0"/>
            <a:ext cx="1138555" cy="935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5" y="530225"/>
            <a:ext cx="11195050" cy="1144270"/>
          </a:xfrm>
          <a:prstGeom prst="roundRect">
            <a:avLst/>
          </a:prstGeo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Task:Create an Interactive Dashboard for ESG Data by Country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9272"/>
            <a:ext cx="10515600" cy="5052291"/>
          </a:xfrm>
        </p:spPr>
        <p:txBody>
          <a:bodyPr/>
          <a:lstStyle/>
          <a:p>
            <a:pPr marL="0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80" y="1398270"/>
            <a:ext cx="10396220" cy="4859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420" y="889000"/>
            <a:ext cx="9898380" cy="80200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br>
              <a:rPr lang="en-IN" b="1" dirty="0">
                <a:solidFill>
                  <a:schemeClr val="accent2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6740"/>
            <a:ext cx="10972800" cy="4271010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The dashboard focuses on </a:t>
            </a:r>
            <a:r>
              <a:rPr lang="en-IN" sz="1800" b="1" dirty="0">
                <a:solidFill>
                  <a:schemeClr val="accent2">
                    <a:lumMod val="75000"/>
                  </a:schemeClr>
                </a:solidFill>
              </a:rPr>
              <a:t>Data Governance and Security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 indicators.</a:t>
            </a:r>
            <a:endParaRPr lang="en-IN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Data is analysed across: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Countries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ESG Categories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 (Economic, Social, Governance)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Series Codes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 (World Bank–style indicators like energy, internet, population, sanitation, etc.)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Two main visual components:</a:t>
            </a:r>
            <a:endParaRPr lang="en-IN" sz="18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Map Visualization (top)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Bar Chart (bottom)</a:t>
            </a:r>
            <a:endParaRPr lang="en-I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sym typeface="+mn-ea"/>
              </a:rPr>
              <a:t>🎛   Filters Used</a:t>
            </a:r>
            <a:endParaRPr lang="en-US" sz="1600" b="1" dirty="0">
              <a:solidFill>
                <a:schemeClr val="accent1"/>
              </a:solidFill>
            </a:endParaRPr>
          </a:p>
          <a:p>
            <a:pPr lvl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CountryCode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sym typeface="+mn-ea"/>
              </a:rPr>
              <a:t>SeriesCode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ESG Category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0"/>
            <a:ext cx="1138351" cy="1138351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128645" y="59055"/>
            <a:ext cx="5727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2400" b="1" dirty="0">
                <a:solidFill>
                  <a:schemeClr val="bg1"/>
                </a:solidFill>
                <a:sym typeface="+mn-ea"/>
              </a:rPr>
              <a:t>1. Dashboard Overview Insight</a:t>
            </a:r>
            <a:br>
              <a:rPr lang="en-IN" sz="2400" b="1" dirty="0">
                <a:solidFill>
                  <a:schemeClr val="bg1"/>
                </a:solidFill>
                <a:sym typeface="+mn-ea"/>
              </a:rPr>
            </a:br>
            <a:endParaRPr lang="en-IN" sz="2400" b="1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"/>
            <a:ext cx="10972800" cy="702945"/>
          </a:xfrm>
        </p:spPr>
        <p:txBody>
          <a:bodyPr/>
          <a:lstStyle/>
          <a:p>
            <a:pPr algn="ctr"/>
            <a:r>
              <a:rPr lang="en-US" b="1" dirty="0"/>
              <a:t>		</a:t>
            </a:r>
            <a:r>
              <a:rPr lang="en-US" sz="2400" b="1" dirty="0">
                <a:sym typeface="+mn-ea"/>
              </a:rPr>
              <a:t>2. Filter-Based Insights</a:t>
            </a:r>
            <a:br>
              <a:rPr lang="en-US" sz="2400" b="1" dirty="0">
                <a:sym typeface="+mn-ea"/>
              </a:rPr>
            </a:b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👉  Insight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Users can dynamically drill down to specific countries, indicators, or ESG dimensions.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This enables comparative analysis between countries or ESG pillars.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" y="-86995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9056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		</a:t>
            </a:r>
            <a:r>
              <a:rPr lang="en-US" sz="2665" b="1" dirty="0">
                <a:solidFill>
                  <a:schemeClr val="bg1"/>
                </a:solidFill>
              </a:rPr>
              <a:t>3. Map Visualization Insights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5309"/>
            <a:ext cx="10515600" cy="5227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45" b="1" dirty="0">
                <a:solidFill>
                  <a:schemeClr val="accent2">
                    <a:lumMod val="50000"/>
                  </a:schemeClr>
                </a:solidFill>
              </a:rPr>
              <a:t>🌍 What the Map Shows:</a:t>
            </a:r>
            <a:endParaRPr lang="en-US" sz="1945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730" dirty="0">
                <a:solidFill>
                  <a:schemeClr val="accent2">
                    <a:lumMod val="75000"/>
                  </a:schemeClr>
                </a:solidFill>
              </a:rPr>
              <a:t>Countries (AFG, AGO, ALB, etc.) plotted against multiple Series Codes</a:t>
            </a:r>
            <a:endParaRPr lang="en-US" sz="173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30" dirty="0">
                <a:solidFill>
                  <a:schemeClr val="accent2">
                    <a:lumMod val="75000"/>
                  </a:schemeClr>
                </a:solidFill>
              </a:rPr>
              <a:t>Color-coded points represent ESG Categories</a:t>
            </a:r>
            <a:endParaRPr lang="en-US" sz="173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📌 Key Insights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730" dirty="0">
                <a:solidFill>
                  <a:schemeClr val="accent2">
                    <a:lumMod val="75000"/>
                  </a:schemeClr>
                </a:solidFill>
              </a:rPr>
              <a:t>Some countries (e.g., Afghanistan, Angola) show data presence across multiple ESG indicators, while others have sparse or missing values.</a:t>
            </a:r>
            <a:endParaRPr lang="en-US" sz="173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30" dirty="0">
                <a:solidFill>
                  <a:schemeClr val="accent2">
                    <a:lumMod val="75000"/>
                  </a:schemeClr>
                </a:solidFill>
              </a:rPr>
              <a:t>Economic indicators appear more frequently populated than Social or Governance ones.</a:t>
            </a:r>
            <a:endParaRPr lang="en-US" sz="173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30" dirty="0">
                <a:solidFill>
                  <a:schemeClr val="accent2">
                    <a:lumMod val="75000"/>
                  </a:schemeClr>
                </a:solidFill>
              </a:rPr>
              <a:t>Governance-related indicators are less consistently available, highlighting data gaps.</a:t>
            </a:r>
            <a:endParaRPr lang="en-US" sz="173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👉 Interpretation: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This suggests uneven data governance maturity across countries.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Countries with fewer plotted points may have limited reporting, weaker governance frameworks, or missing data.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99" y="-141"/>
            <a:ext cx="1099126" cy="1073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17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	</a:t>
            </a:r>
            <a:r>
              <a:rPr lang="en-US" sz="2665" b="1" dirty="0">
                <a:solidFill>
                  <a:schemeClr val="bg1"/>
                </a:solidFill>
              </a:rPr>
              <a:t>4. Bar Chart Insights</a:t>
            </a:r>
            <a:br>
              <a:rPr lang="en-US" sz="2665" b="1" dirty="0">
                <a:solidFill>
                  <a:schemeClr val="bg1"/>
                </a:solidFill>
              </a:rPr>
            </a:br>
            <a:endParaRPr lang="en-US" sz="2665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📊  What the Bar Chart Shows:</a:t>
            </a:r>
            <a:endParaRPr lang="en-US" sz="20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Count of Series Codes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by country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Comparison across different ESG-related indicators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🔍 Key Insights:</a:t>
            </a:r>
            <a:endParaRPr lang="en-US" sz="20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Countries like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USA, Georgia, Moldova</a:t>
            </a:r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 show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higher indicator coverage</a:t>
            </a:r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Some countries consistently appear across multiple indicators →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stronger data availability &amp; reporting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Others show very low counts →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data accessibility or governance challenges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50" b="1" dirty="0">
                <a:solidFill>
                  <a:schemeClr val="accent2">
                    <a:lumMod val="50000"/>
                  </a:schemeClr>
                </a:solidFill>
              </a:rPr>
              <a:t>👉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 Interpretation</a:t>
            </a:r>
            <a:r>
              <a:rPr lang="en-US" sz="2000" dirty="0"/>
              <a:t>:</a:t>
            </a:r>
            <a:endParaRPr lang="en-US" sz="2000" dirty="0"/>
          </a:p>
          <a:p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Higher bar counts imply: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Better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data infrastructure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Stronger </a:t>
            </a:r>
            <a:r>
              <a:rPr lang="en-US" sz="1780" b="1" dirty="0">
                <a:solidFill>
                  <a:schemeClr val="accent2">
                    <a:lumMod val="75000"/>
                  </a:schemeClr>
                </a:solidFill>
              </a:rPr>
              <a:t>governance and transparency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Lower counts may signal: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Poor data collection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1780" dirty="0">
                <a:solidFill>
                  <a:schemeClr val="accent2">
                    <a:lumMod val="75000"/>
                  </a:schemeClr>
                </a:solidFill>
              </a:rPr>
              <a:t>Inconsistent ESG reporting</a:t>
            </a:r>
            <a:endParaRPr lang="en-US" sz="178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78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97" y="1"/>
            <a:ext cx="720436" cy="835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544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	</a:t>
            </a:r>
            <a:br>
              <a:rPr lang="en-US" b="1" dirty="0"/>
            </a:br>
            <a:r>
              <a:rPr lang="en-US" b="1" dirty="0"/>
              <a:t>		</a:t>
            </a:r>
            <a:r>
              <a:rPr lang="en-US" sz="2665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ESG-Specific Insights</a:t>
            </a:r>
            <a:br>
              <a:rPr lang="en-US" sz="2665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665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085" y="1198880"/>
            <a:ext cx="10092055" cy="4652010"/>
          </a:xfrm>
        </p:spPr>
        <p:txBody>
          <a:bodyPr/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Economic ESG indicators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dominate the dataset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Social indicators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(water, sanitation, population access) are moderately available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Governance indicators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are least represented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👉 Insight</a:t>
            </a:r>
            <a:r>
              <a:rPr lang="en-US" sz="1800" dirty="0"/>
              <a:t>:</a:t>
            </a:r>
            <a:endParaRPr lang="en-US" sz="1800" dirty="0"/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Globally,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economic data is prioritized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, while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governance metrics lag behind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This highlights a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risk area for ESG compliance and policy-making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7" y="58"/>
            <a:ext cx="1129147" cy="1067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en-IN" sz="2400" b="1" dirty="0">
                <a:solidFill>
                  <a:schemeClr val="bg1"/>
                </a:solidFill>
              </a:rPr>
              <a:t>6. Overall Business / Policy Insight</a:t>
            </a:r>
            <a:br>
              <a:rPr lang="en-IN" sz="2400" b="1" dirty="0">
                <a:solidFill>
                  <a:schemeClr val="bg1"/>
                </a:solidFill>
              </a:rPr>
            </a:b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4065"/>
            <a:ext cx="10972800" cy="53536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</a:rPr>
              <a:t>✔ Helps identify:</a:t>
            </a:r>
            <a:endParaRPr lang="en-IN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Countries with 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strong vs weak data governance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ESG dimensions with 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data gaps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Priority areas for 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policy intervention or investment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</a:rPr>
              <a:t>✔ Useful for:</a:t>
            </a:r>
            <a:endParaRPr lang="en-IN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ESG risk assessment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Sustainability reporting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Data governance strategy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International benchmarking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" y="0"/>
            <a:ext cx="1129030" cy="774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en-US" sz="2400" b="1" dirty="0">
                <a:solidFill>
                  <a:schemeClr val="bg1"/>
                </a:solidFill>
              </a:rPr>
              <a:t>7. One-Line Summary (Very Useful)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“The dashboard reveals uneven ESG data governance across countries, with strong economic data availability but significant gaps in governance and social indicators, highlighting transparency and reporting challenges.”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6" y="-267"/>
            <a:ext cx="1129147" cy="1067015"/>
          </a:xfrm>
          <a:prstGeom prst="rect">
            <a:avLst/>
          </a:prstGeom>
        </p:spPr>
      </p:pic>
      <p:pic>
        <p:nvPicPr>
          <p:cNvPr id="5" name="Picture 4" descr="ChatGPT Image Jan 29, 2026, 07_30_01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791335"/>
            <a:ext cx="8713470" cy="4782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305" y="1228725"/>
            <a:ext cx="10310495" cy="5457825"/>
          </a:xfrm>
        </p:spPr>
        <p:txBody>
          <a:bodyPr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45" y="0"/>
            <a:ext cx="1129030" cy="871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6260"/>
            <a:ext cx="10972800" cy="4301490"/>
          </a:xfrm>
        </p:spPr>
        <p:txBody>
          <a:bodyPr/>
          <a:p>
            <a:endParaRPr lang="en-US"/>
          </a:p>
        </p:txBody>
      </p:sp>
      <p:pic>
        <p:nvPicPr>
          <p:cNvPr id="4" name="Picture 3" descr="Dashboar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58875"/>
            <a:ext cx="10377805" cy="4968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" y="0"/>
            <a:ext cx="1138351" cy="1138351"/>
          </a:xfrm>
          <a:prstGeom prst="rect">
            <a:avLst/>
          </a:prstGeom>
        </p:spPr>
      </p:pic>
      <p:sp>
        <p:nvSpPr>
          <p:cNvPr id="9" name="Title 8"/>
          <p:cNvSpPr/>
          <p:nvPr>
            <p:ph type="title"/>
          </p:nvPr>
        </p:nvSpPr>
        <p:spPr/>
        <p:txBody>
          <a:bodyPr/>
          <a:p>
            <a:pPr algn="ctr"/>
            <a:r>
              <a:rPr lang="en-US" sz="2400"/>
              <a:t>DATA PRIVACY AND SECURITY SHEET</a:t>
            </a:r>
            <a:endParaRPr 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2610" y="190500"/>
            <a:ext cx="8479790" cy="582930"/>
          </a:xfrm>
          <a:noFill/>
        </p:spPr>
        <p:txBody>
          <a:bodyPr/>
          <a:p>
            <a:pPr algn="ctr"/>
            <a:r>
              <a:rPr lang="en-US" sz="2400" b="1">
                <a:solidFill>
                  <a:schemeClr val="bg1"/>
                </a:solidFill>
              </a:rPr>
              <a:t>INSIGHT FROM DATA PRIVACY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1900" b="1">
                <a:solidFill>
                  <a:schemeClr val="accent2"/>
                </a:solidFill>
              </a:rPr>
              <a:t>🔐</a:t>
            </a:r>
            <a:r>
              <a:rPr lang="en-US" altLang="en-US" sz="1900" b="1">
                <a:solidFill>
                  <a:schemeClr val="accent2"/>
                </a:solidFill>
              </a:rPr>
              <a:t> Data Privacy (Pie Chart)</a:t>
            </a:r>
            <a:endParaRPr lang="en-US" altLang="en-US" sz="1900" b="1">
              <a:solidFill>
                <a:schemeClr val="accent2"/>
              </a:solidFill>
            </a:endParaRPr>
          </a:p>
          <a:p>
            <a:r>
              <a:rPr lang="en-US" altLang="en-US" sz="1900"/>
              <a:t>Majority of access requests are compliant, indicating strong adherence to data privacy policies.</a:t>
            </a:r>
            <a:endParaRPr lang="en-US" altLang="en-US" sz="1900"/>
          </a:p>
          <a:p>
            <a:r>
              <a:rPr lang="en-US" altLang="en-US" sz="1900"/>
              <a:t>A small portion is non-compliant, highlighting areas where policy enforcement or user awareness can improve.</a:t>
            </a:r>
            <a:endParaRPr lang="en-US" altLang="en-US" sz="1900"/>
          </a:p>
          <a:p>
            <a:endParaRPr lang="en-US" altLang="en-US" sz="1900" b="1"/>
          </a:p>
          <a:p>
            <a:pPr marL="0" indent="0">
              <a:buNone/>
            </a:pPr>
            <a:r>
              <a:rPr lang="en-US" altLang="en-US" sz="1900" b="1">
                <a:solidFill>
                  <a:schemeClr val="accent2"/>
                </a:solidFill>
              </a:rPr>
              <a:t>⏱</a:t>
            </a:r>
            <a:r>
              <a:rPr lang="en-US" altLang="en-US" sz="1900" b="1">
                <a:solidFill>
                  <a:schemeClr val="accent2"/>
                </a:solidFill>
              </a:rPr>
              <a:t>️</a:t>
            </a:r>
            <a:r>
              <a:rPr lang="en-US" altLang="en-US" sz="1900" b="1">
                <a:solidFill>
                  <a:schemeClr val="accent2"/>
                </a:solidFill>
              </a:rPr>
              <a:t> Data Privacy – Access Over Time</a:t>
            </a:r>
            <a:endParaRPr lang="en-US" altLang="en-US" sz="1900" b="1">
              <a:solidFill>
                <a:schemeClr val="accent2"/>
              </a:solidFill>
            </a:endParaRPr>
          </a:p>
          <a:p>
            <a:r>
              <a:rPr lang="en-US" altLang="en-US" sz="1900"/>
              <a:t>Approval time ranges up to ~6.2 hours.</a:t>
            </a:r>
            <a:endParaRPr lang="en-US" altLang="en-US" sz="1900"/>
          </a:p>
          <a:p>
            <a:r>
              <a:rPr lang="en-US" altLang="en-US" sz="1900"/>
              <a:t>Some access requests take longer to approve, which may delay business operations.</a:t>
            </a:r>
            <a:endParaRPr lang="en-US" altLang="en-US" sz="1900"/>
          </a:p>
          <a:p>
            <a:r>
              <a:rPr lang="en-US" altLang="en-US" sz="1900"/>
              <a:t>Indicates a need to optimize approval workflows while maintaining privacy controls.</a:t>
            </a:r>
            <a:endParaRPr lang="en-US" altLang="en-US" sz="19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" y="0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360" y="190500"/>
            <a:ext cx="8702040" cy="582930"/>
          </a:xfrm>
        </p:spPr>
        <p:txBody>
          <a:bodyPr/>
          <a:p>
            <a:pPr algn="ctr"/>
            <a:r>
              <a:rPr lang="en-US" sz="2400" b="1">
                <a:solidFill>
                  <a:schemeClr val="bg1"/>
                </a:solidFill>
                <a:sym typeface="+mn-ea"/>
              </a:rPr>
              <a:t>INSIGHT FROM DATA SECURITY SHEET</a:t>
            </a:r>
            <a:endParaRPr lang="en-US" sz="24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5000"/>
          </a:bodyPr>
          <a:p>
            <a:pPr marL="0" indent="0">
              <a:buNone/>
            </a:pPr>
            <a:r>
              <a:rPr lang="zh-CN" altLang="en-US" sz="5145" b="1">
                <a:solidFill>
                  <a:schemeClr val="accent2"/>
                </a:solidFill>
              </a:rPr>
              <a:t>🛡</a:t>
            </a:r>
            <a:r>
              <a:rPr lang="en-US" altLang="en-US" sz="5145" b="1">
                <a:solidFill>
                  <a:schemeClr val="accent2"/>
                </a:solidFill>
              </a:rPr>
              <a:t>️ Data Security – Incident Scatter Plot</a:t>
            </a:r>
            <a:endParaRPr lang="en-US" altLang="en-US" sz="5145" b="1">
              <a:solidFill>
                <a:schemeClr val="accent2"/>
              </a:solidFill>
            </a:endParaRPr>
          </a:p>
          <a:p>
            <a:r>
              <a:rPr lang="en-US" altLang="en-US" sz="3555"/>
              <a:t>Very low number of security incidents overall (mostly single occurrences).</a:t>
            </a:r>
            <a:endParaRPr lang="en-US" altLang="en-US" sz="3555"/>
          </a:p>
          <a:p>
            <a:r>
              <a:rPr lang="en-US" altLang="en-US" sz="3555"/>
              <a:t>Detection times vary (≈8 to 20 minutes).</a:t>
            </a:r>
            <a:endParaRPr lang="en-US" altLang="en-US" sz="3555"/>
          </a:p>
          <a:p>
            <a:r>
              <a:rPr lang="en-US" altLang="en-US" sz="3555"/>
              <a:t>Faster detection exists, but some incidents take longer to identify, suggesting scope to improve monitoring and alerting systems.</a:t>
            </a:r>
            <a:endParaRPr lang="en-US" altLang="en-US" sz="3555"/>
          </a:p>
          <a:p>
            <a:endParaRPr lang="en-US" altLang="en-US" sz="8000"/>
          </a:p>
          <a:p>
            <a:pPr marL="0" indent="0">
              <a:buNone/>
            </a:pPr>
            <a:r>
              <a:rPr lang="en-US" altLang="en-US" sz="5145" b="1">
                <a:solidFill>
                  <a:schemeClr val="accent1"/>
                </a:solidFill>
              </a:rPr>
              <a:t>✅ Overall Insight</a:t>
            </a:r>
            <a:endParaRPr lang="en-US" altLang="en-US" sz="5145" b="1">
              <a:solidFill>
                <a:schemeClr val="accent1"/>
              </a:solidFill>
            </a:endParaRPr>
          </a:p>
          <a:p>
            <a:r>
              <a:rPr lang="zh-CN" altLang="en-US" sz="3555"/>
              <a:t>👉</a:t>
            </a:r>
            <a:r>
              <a:rPr lang="en-US" altLang="en-US" sz="3555"/>
              <a:t> Data privacy compliance is strong and security incidents are minimal, but reducing approval delays and improving incident detection speed will further strengthen governance and operational efficiency.</a:t>
            </a:r>
            <a:endParaRPr lang="en-US" altLang="en-US" sz="3555"/>
          </a:p>
          <a:p>
            <a:endParaRPr lang="en-US" altLang="en-US" sz="8000"/>
          </a:p>
          <a:p>
            <a:r>
              <a:rPr lang="en-US" altLang="en-US"/>
              <a:t>I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" y="0"/>
            <a:ext cx="1138555" cy="916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990" y="120650"/>
            <a:ext cx="10290810" cy="778510"/>
          </a:xfrm>
        </p:spPr>
        <p:txBody>
          <a:bodyPr/>
          <a:p>
            <a:pPr algn="ctr"/>
            <a:r>
              <a:rPr lang="en-US" sz="2400" b="1">
                <a:solidFill>
                  <a:schemeClr val="bg1"/>
                </a:solidFill>
              </a:rPr>
              <a:t>Data Quality And Access Sheet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Dashboar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355" y="1268730"/>
            <a:ext cx="10290810" cy="4908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15" y="0"/>
            <a:ext cx="1138555" cy="899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 b="1">
                <a:sym typeface="+mn-ea"/>
              </a:rPr>
              <a:t>Data Quality And Access Sheet Trends</a:t>
            </a:r>
            <a:endParaRPr lang="en-US" sz="24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 marL="0" indent="0">
              <a:buNone/>
            </a:pPr>
            <a:endParaRPr lang="en-US" altLang="en-US" sz="4800"/>
          </a:p>
          <a:p>
            <a:pPr marL="0" indent="0">
              <a:buNone/>
            </a:pPr>
            <a:r>
              <a:rPr lang="en-US" altLang="en-US" sz="7200" b="1">
                <a:solidFill>
                  <a:schemeClr val="accent2"/>
                </a:solidFill>
              </a:rPr>
              <a:t>**1 Data Quality Trends (2026)**</a:t>
            </a:r>
            <a:endParaRPr lang="en-US" altLang="en-US" sz="7200" b="1">
              <a:solidFill>
                <a:schemeClr val="accent2"/>
              </a:solidFill>
            </a:endParaRPr>
          </a:p>
          <a:p>
            <a:r>
              <a:rPr lang="en-US" altLang="en-US" sz="6400"/>
              <a:t>* **Accuracy, Completeness, and Consistency** are all relatively high, indicating **overall good data quality**.</a:t>
            </a:r>
            <a:endParaRPr lang="en-US" altLang="en-US" sz="6400"/>
          </a:p>
          <a:p>
            <a:r>
              <a:rPr lang="en-US" altLang="en-US" sz="6400"/>
              <a:t>* **Completeness Rate (~70–75%)** is lower than accuracy and consistency → **data gaps still exist**.</a:t>
            </a:r>
            <a:endParaRPr lang="en-US" altLang="en-US" sz="6400"/>
          </a:p>
          <a:p>
            <a:r>
              <a:rPr lang="en-US" altLang="en-US" sz="6400"/>
              <a:t>* Accuracy and consistency values are strong, suggesting **reliable and standardized data**.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8000" b="1">
                <a:solidFill>
                  <a:schemeClr val="accent2"/>
                </a:solidFill>
              </a:rPr>
              <a:t>**</a:t>
            </a:r>
            <a:r>
              <a:rPr lang="en-US" altLang="en-US" sz="7200" b="1">
                <a:solidFill>
                  <a:schemeClr val="accent2"/>
                </a:solidFill>
              </a:rPr>
              <a:t>2 Data Access Trends (Request Status)**</a:t>
            </a:r>
            <a:endParaRPr lang="en-US" altLang="en-US" sz="7200" b="1">
              <a:solidFill>
                <a:schemeClr val="accent2"/>
              </a:solidFill>
            </a:endParaRPr>
          </a:p>
          <a:p>
            <a:r>
              <a:rPr lang="en-US" altLang="en-US" sz="6400"/>
              <a:t>* **Approved, Pending, and Rejected requests are almost evenly distributed**.</a:t>
            </a:r>
            <a:endParaRPr lang="en-US" altLang="en-US" sz="6400"/>
          </a:p>
          <a:p>
            <a:r>
              <a:rPr lang="en-US" altLang="en-US" sz="6400"/>
              <a:t>* This indicates a **balanced access control process**, but also scope to **reduce pending requests** for faster access.</a:t>
            </a:r>
            <a:endParaRPr lang="en-US" altLang="en-US" sz="6400"/>
          </a:p>
          <a:p>
            <a:r>
              <a:rPr lang="en-US" altLang="en-US" sz="6400"/>
              <a:t>**3️</a:t>
            </a:r>
            <a:r>
              <a:rPr lang="en-US" altLang="en-US" sz="6400"/>
              <a:t>⃣ Data Access Heatmap (By Department &amp; Role)**</a:t>
            </a:r>
            <a:endParaRPr lang="en-US" altLang="en-US" sz="6400"/>
          </a:p>
          <a:p>
            <a:endParaRPr lang="en-US" altLang="en-US" sz="6400"/>
          </a:p>
          <a:p>
            <a:endParaRPr lang="zh-CN" altLang="en-US" sz="6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0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 b="1">
                <a:solidFill>
                  <a:schemeClr val="bg1"/>
                </a:solidFill>
                <a:sym typeface="+mn-ea"/>
              </a:rPr>
              <a:t>Data Quality and Access Insights</a:t>
            </a:r>
            <a:endParaRPr lang="en-US" sz="24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sz="1800" b="1">
                <a:solidFill>
                  <a:schemeClr val="accent2"/>
                </a:solidFill>
                <a:sym typeface="+mn-ea"/>
              </a:rPr>
              <a:t>* **HR Managers** and **IT Admins** show **higher access activity** compared to Finance Analysts.</a:t>
            </a:r>
            <a:endParaRPr lang="en-US" altLang="en-US" sz="1800" b="1">
              <a:solidFill>
                <a:schemeClr val="accent2"/>
              </a:solidFill>
            </a:endParaRPr>
          </a:p>
          <a:p>
            <a:r>
              <a:rPr lang="en-US" altLang="en-US" sz="1780">
                <a:sym typeface="+mn-ea"/>
              </a:rPr>
              <a:t>* Indicates **role-based access concentration**, especially in **administrative and managerial roles**.</a:t>
            </a:r>
            <a:endParaRPr lang="en-US" altLang="en-US" sz="1780"/>
          </a:p>
          <a:p>
            <a:r>
              <a:rPr lang="en-US" altLang="en-US" sz="1780">
                <a:sym typeface="+mn-ea"/>
              </a:rPr>
              <a:t>* Finance access appears more controlled/restricted.</a:t>
            </a:r>
            <a:endParaRPr lang="en-US" altLang="en-US" sz="1780"/>
          </a:p>
          <a:p>
            <a:endParaRPr lang="en-US" altLang="en-US" sz="1780"/>
          </a:p>
          <a:p>
            <a:pPr marL="0" indent="0">
              <a:buNone/>
            </a:pPr>
            <a:r>
              <a:rPr lang="en-US" altLang="en-US" sz="1800" b="1">
                <a:solidFill>
                  <a:schemeClr val="accent2"/>
                </a:solidFill>
                <a:sym typeface="+mn-ea"/>
              </a:rPr>
              <a:t>**Overall Insight**</a:t>
            </a:r>
            <a:endParaRPr lang="en-US" altLang="en-US" sz="1800" b="1">
              <a:solidFill>
                <a:schemeClr val="accent2"/>
              </a:solidFill>
            </a:endParaRPr>
          </a:p>
          <a:p>
            <a:r>
              <a:rPr lang="zh-CN" altLang="en-US" sz="1600">
                <a:sym typeface="+mn-ea"/>
              </a:rPr>
              <a:t>👉</a:t>
            </a:r>
            <a:r>
              <a:rPr lang="en-US" altLang="en-US" sz="1600">
                <a:sym typeface="+mn-ea"/>
              </a:rPr>
              <a:t> Data quality is strong, access governance is structured, but **improving data completeness and reducing pending access requests** can further enhance efficiency.</a:t>
            </a:r>
            <a:endParaRPr lang="en-US" altLang="en-US" sz="1600"/>
          </a:p>
          <a:p>
            <a:endParaRPr lang="en-US" altLang="en-US"/>
          </a:p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0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 b="1">
                <a:solidFill>
                  <a:schemeClr val="bg1"/>
                </a:solidFill>
              </a:rPr>
              <a:t>Data Compliance Sheet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72395" cy="3884295"/>
          </a:xfrm>
        </p:spPr>
        <p:txBody>
          <a:bodyPr/>
          <a:p>
            <a:endParaRPr lang="en-US"/>
          </a:p>
        </p:txBody>
      </p:sp>
      <p:pic>
        <p:nvPicPr>
          <p:cNvPr id="4" name="Picture 3" descr="Dashboard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9346565" cy="48285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" y="-87630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 b="1">
                <a:solidFill>
                  <a:schemeClr val="bg1"/>
                </a:solidFill>
                <a:sym typeface="+mn-ea"/>
              </a:rPr>
              <a:t>Data Compliance Insights</a:t>
            </a:r>
            <a:endParaRPr lang="en-US" sz="24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605" y="1463040"/>
            <a:ext cx="10515600" cy="4351338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000" b="1">
                <a:solidFill>
                  <a:schemeClr val="accent2"/>
                </a:solidFill>
              </a:rPr>
              <a:t>📊</a:t>
            </a:r>
            <a:r>
              <a:rPr lang="en-US" altLang="en-US" sz="2000" b="1">
                <a:solidFill>
                  <a:schemeClr val="accent2"/>
                </a:solidFill>
              </a:rPr>
              <a:t>    Audit Status Overview (2026)</a:t>
            </a:r>
            <a:endParaRPr lang="en-US" altLang="en-US" sz="2000" b="1">
              <a:solidFill>
                <a:schemeClr val="accent2"/>
              </a:solidFill>
            </a:endParaRPr>
          </a:p>
          <a:p>
            <a:r>
              <a:rPr lang="en-US" altLang="en-US" sz="1600"/>
              <a:t>Passed, In-Progress, and Failed audits are almost evenly distributed.</a:t>
            </a:r>
            <a:endParaRPr lang="en-US" altLang="en-US" sz="1600"/>
          </a:p>
          <a:p>
            <a:pPr marL="285750" indent="-285750"/>
            <a:r>
              <a:rPr lang="en-US" altLang="en-US" sz="1600"/>
              <a:t>Indicates that while some controls are effective, a significant portion still needs remediation or follow-up.</a:t>
            </a:r>
            <a:endParaRPr lang="en-US" altLang="en-US" sz="1600"/>
          </a:p>
          <a:p>
            <a:r>
              <a:rPr lang="en-US" altLang="en-US" sz="1600"/>
              <a:t>High “In Progress” count suggests ongoing compliance efforts rather than completed resolution.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zh-CN" altLang="en-US" sz="1800" b="1">
                <a:solidFill>
                  <a:schemeClr val="accent2"/>
                </a:solidFill>
              </a:rPr>
              <a:t>⚠</a:t>
            </a:r>
            <a:r>
              <a:rPr lang="en-US" altLang="en-US" sz="1800" b="1">
                <a:solidFill>
                  <a:schemeClr val="accent2"/>
                </a:solidFill>
              </a:rPr>
              <a:t>️ Compliance vs Non-Compliance Rate</a:t>
            </a:r>
            <a:endParaRPr lang="en-US" altLang="en-US" sz="1800" b="1">
              <a:solidFill>
                <a:schemeClr val="accent2"/>
              </a:solidFill>
            </a:endParaRPr>
          </a:p>
          <a:p>
            <a:r>
              <a:rPr lang="en-US" altLang="en-US" sz="1600"/>
              <a:t>Non-Compliance Rate (~67%) is significantly higher than the Compliance Rate (~33%).</a:t>
            </a:r>
            <a:endParaRPr lang="en-US" altLang="en-US" sz="1600"/>
          </a:p>
          <a:p>
            <a:r>
              <a:rPr lang="en-US" altLang="en-US" sz="1600"/>
              <a:t>This highlights elevated compliance risk and potential exposure to regulatory or audit issues.</a:t>
            </a:r>
            <a:endParaRPr lang="en-US" altLang="en-US" sz="1600"/>
          </a:p>
          <a:p>
            <a:r>
              <a:rPr lang="en-US" altLang="en-US" sz="1600"/>
              <a:t>Suggests policies are defined but not consistently implemented.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zh-CN" altLang="en-US" sz="1800" b="1">
                <a:solidFill>
                  <a:schemeClr val="accent2"/>
                </a:solidFill>
                <a:sym typeface="+mn-ea"/>
              </a:rPr>
              <a:t>🔎</a:t>
            </a:r>
            <a:r>
              <a:rPr lang="en-US" altLang="en-US" sz="1800" b="1">
                <a:solidFill>
                  <a:schemeClr val="accent2"/>
                </a:solidFill>
                <a:sym typeface="+mn-ea"/>
              </a:rPr>
              <a:t>  Key Takeaway</a:t>
            </a:r>
            <a:endParaRPr lang="en-US" altLang="en-US" sz="1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👉</a:t>
            </a:r>
            <a:r>
              <a:rPr lang="en-US" altLang="en-US" sz="1600">
                <a:sym typeface="+mn-ea"/>
              </a:rPr>
              <a:t> Compliance maturity is still developing—organizations should prioritize closing failed audits, accelerating in-progress audits, and strengthening control enforcement to improve overall compliance rates.</a:t>
            </a:r>
            <a:endParaRPr lang="en-US" altLang="en-US" sz="1600"/>
          </a:p>
          <a:p>
            <a:endParaRPr lang="en-US" altLang="en-US"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20" y="0"/>
            <a:ext cx="1138351" cy="11383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0800000" flipV="1">
            <a:off x="4157345" y="5318760"/>
            <a:ext cx="2611755" cy="8070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pPr algn="l"/>
            <a:r>
              <a:rPr lang="en-US" i="1" dirty="0">
                <a:solidFill>
                  <a:schemeClr val="tx1"/>
                </a:solidFill>
                <a:latin typeface="Tw Cen MT" panose="020B0602020104020603" charset="0"/>
                <a:cs typeface="Tw Cen MT" panose="020B0602020104020603" charset="0"/>
              </a:rPr>
              <a:t>Ms. Jaya Suhane</a:t>
            </a:r>
            <a:endParaRPr lang="en-US" i="1" dirty="0">
              <a:solidFill>
                <a:schemeClr val="tx1"/>
              </a:solidFill>
              <a:latin typeface="Tw Cen MT" panose="020B0602020104020603" charset="0"/>
              <a:cs typeface="Tw Cen MT" panose="020B0602020104020603" charset="0"/>
            </a:endParaRPr>
          </a:p>
          <a:p>
            <a:pPr algn="just"/>
            <a:r>
              <a:rPr lang="en-US" i="1" dirty="0">
                <a:solidFill>
                  <a:schemeClr val="tx1"/>
                </a:solidFill>
                <a:latin typeface="Tw Cen MT" panose="020B0602020104020603" charset="0"/>
                <a:cs typeface="Tw Cen MT" panose="020B0602020104020603" charset="0"/>
              </a:rPr>
              <a:t>suhane79ja</a:t>
            </a:r>
            <a:r>
              <a:rPr lang="en-US" i="1" dirty="0">
                <a:solidFill>
                  <a:schemeClr val="tx1"/>
                </a:solidFill>
                <a:latin typeface="Tw Cen MT" panose="020B0602020104020603" charset="0"/>
                <a:ea typeface="+mj-ea"/>
                <a:cs typeface="Tw Cen MT" panose="020B0602020104020603" charset="0"/>
              </a:rPr>
              <a:t>y</a:t>
            </a:r>
            <a:r>
              <a:rPr lang="en-US" i="1" dirty="0">
                <a:solidFill>
                  <a:schemeClr val="tx1"/>
                </a:solidFill>
                <a:latin typeface="Tw Cen MT" panose="020B0602020104020603" charset="0"/>
                <a:cs typeface="Tw Cen MT" panose="020B0602020104020603" charset="0"/>
              </a:rPr>
              <a:t>a@gmail.com</a:t>
            </a:r>
            <a:endParaRPr lang="en-US" i="1" dirty="0">
              <a:solidFill>
                <a:schemeClr val="tx1"/>
              </a:solidFill>
              <a:latin typeface="Tw Cen MT" panose="020B0602020104020603" charset="0"/>
              <a:cs typeface="Tw Cen MT" panose="020B06020201040206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99055" y="346075"/>
            <a:ext cx="83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1"/>
                </a:solidFill>
                <a:sym typeface="+mn-ea"/>
              </a:rPr>
              <a:t>DATA  GOVERANCE AND </a:t>
            </a:r>
            <a:r>
              <a:rPr lang="en-US" b="1">
                <a:sym typeface="+mn-ea"/>
              </a:rPr>
              <a:t>SECURITY</a:t>
            </a:r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867150" y="4318000"/>
            <a:ext cx="2712085" cy="712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20" y="0"/>
            <a:ext cx="1138555" cy="9912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5270" y="3141345"/>
            <a:ext cx="11684000" cy="9867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r>
              <a:rPr lang="en-US" sz="1600" b="1" i="1">
                <a:solidFill>
                  <a:schemeClr val="tx1"/>
                </a:solidFill>
                <a:latin typeface="Franklin Gothic Book" panose="020B0503020102020204" charset="0"/>
                <a:cs typeface="Franklin Gothic Book" panose="020B0503020102020204" charset="0"/>
              </a:rPr>
              <a:t>You can see this Analysis  using this link</a:t>
            </a:r>
            <a:endParaRPr lang="en-US" sz="1600" b="1" i="1">
              <a:solidFill>
                <a:schemeClr val="tx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  <a:p>
            <a:r>
              <a:rPr lang="en-US" altLang="en-US" sz="1600" b="1" i="1">
                <a:solidFill>
                  <a:schemeClr val="tx1"/>
                </a:solidFill>
                <a:latin typeface="Franklin Gothic Book" panose="020B0503020102020204" charset="0"/>
                <a:cs typeface="Franklin Gothic Book" panose="020B0503020102020204" charset="0"/>
              </a:rPr>
              <a:t>https://public.tableau.com/app/profile/jaya.suhane/viz/Dataqualitytreands/AnalysisresultsofDataSecurityandGoverenanceDataSet?publish=yes</a:t>
            </a:r>
            <a:endParaRPr lang="en-US" altLang="en-US" sz="1600" b="1" i="1">
              <a:solidFill>
                <a:schemeClr val="tx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pic>
        <p:nvPicPr>
          <p:cNvPr id="9" name="Picture 8" descr="182875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040" y="751205"/>
            <a:ext cx="3295650" cy="2595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6113</Words>
  <Application>WPS Presentation</Application>
  <PresentationFormat>Widescreen</PresentationFormat>
  <Paragraphs>170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Tw Cen MT</vt:lpstr>
      <vt:lpstr>Franklin Gothic Book</vt:lpstr>
      <vt:lpstr>Microsoft YaHei</vt:lpstr>
      <vt:lpstr>Arial Unicode MS</vt:lpstr>
      <vt:lpstr>Calibri</vt:lpstr>
      <vt:lpstr>Communications and Dialogues</vt:lpstr>
      <vt:lpstr>PowerPoint 演示文稿</vt:lpstr>
      <vt:lpstr>Task:Create an Interactive Dashboard for ESG Data by Country</vt:lpstr>
      <vt:lpstr>  </vt:lpstr>
      <vt:lpstr>		2. Filter-Based Insights </vt:lpstr>
      <vt:lpstr> 		3. Map Visualization Insights </vt:lpstr>
      <vt:lpstr> 	4. Bar Chart Insights </vt:lpstr>
      <vt:lpstr>	 		5. ESG-Specific Insights </vt:lpstr>
      <vt:lpstr>		6. Overall Business / Policy Insight </vt:lpstr>
      <vt:lpstr>		7. One-Line Summary (Very Useful) </vt:lpstr>
      <vt:lpstr>PowerPoint 演示文稿</vt:lpstr>
      <vt:lpstr>DATA PRIVACY AND SECURITY SHEET</vt:lpstr>
      <vt:lpstr>INSIGHT FROM DATA PRIVACY</vt:lpstr>
      <vt:lpstr>INSIGHT FROM DATA SECURITY SHEET</vt:lpstr>
      <vt:lpstr>Data Quality And Access Sheet</vt:lpstr>
      <vt:lpstr>Data Quality And Access Sheet Trends</vt:lpstr>
      <vt:lpstr>Data Quality and Access Insights</vt:lpstr>
      <vt:lpstr>Data Compliance Sheet</vt:lpstr>
      <vt:lpstr>Data Compliance Insights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nagariya</dc:creator>
  <cp:lastModifiedBy>jaya nagariya</cp:lastModifiedBy>
  <cp:revision>54</cp:revision>
  <dcterms:created xsi:type="dcterms:W3CDTF">2026-01-29T12:42:00Z</dcterms:created>
  <dcterms:modified xsi:type="dcterms:W3CDTF">2026-03-16T08:29:03Z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17102AFE8F994807A187AEE452FCBDCC_12</vt:lpwstr>
  </property>
  <property fmtid="{D5CDD505-2E9C-101B-9397-08002B2CF9AE}" pid="3" name="KSOProductBuildVer">
    <vt:lpwstr>1033-12.2.0.23196</vt:lpwstr>
  </property>
</Properties>
</file>